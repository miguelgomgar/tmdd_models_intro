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6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FF6E62-ED14-61D3-FD38-362D704EC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98C26D8-51F3-E69D-62D9-5E56472798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30489A3-CBF4-4EC2-5959-37794C1E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1FDD-24C8-48C0-8FE8-A49B4E1232C9}" type="datetimeFigureOut">
              <a:rPr lang="es-ES" smtClean="0"/>
              <a:t>12/01/2026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9746F80-A2A7-C091-25BE-4813D2C0F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D501A16-E8B4-EAD1-A0C2-E9026D3AC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2AEBE-8C44-4A5E-9F2F-523E91813BA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85915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38498E-F477-0739-46C6-B97185620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6CFC0AD-7EF5-5093-B294-D08448F8A0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302CD8F-776C-A9CE-3A4A-1D9233BD4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1FDD-24C8-48C0-8FE8-A49B4E1232C9}" type="datetimeFigureOut">
              <a:rPr lang="es-ES" smtClean="0"/>
              <a:t>12/01/2026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B5F69A1-243A-77AD-045B-6C75DDDCB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6FF79D4-F7FF-4643-4231-F8D1A4C4F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2AEBE-8C44-4A5E-9F2F-523E91813BA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17448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E4D5E2-D9ED-7972-303B-7EF670792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1B93126-E082-1E6E-FC30-FF38227B02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663406E-FA38-C6F1-2B55-A65E9C378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1FDD-24C8-48C0-8FE8-A49B4E1232C9}" type="datetimeFigureOut">
              <a:rPr lang="es-ES" smtClean="0"/>
              <a:t>12/01/2026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0408A1-A6A4-4AFF-94FE-7222F4EE0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099943A-9ED8-BB20-DD8E-D26508180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2AEBE-8C44-4A5E-9F2F-523E91813BA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987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AF543C-29F3-D51D-9B1D-E44033E26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552DAB-81A0-D99A-DEF0-1A561CDDF3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FF70480-3DF1-1232-2A7D-19EE95E2F6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D63BE3B-A043-FA08-892D-01B0FE2F3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1FDD-24C8-48C0-8FE8-A49B4E1232C9}" type="datetimeFigureOut">
              <a:rPr lang="es-ES" smtClean="0"/>
              <a:t>12/01/2026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41A807B-00A3-22FA-C05F-481438F67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9B35EFF-BFC5-1E6D-E8F3-8C384092D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2AEBE-8C44-4A5E-9F2F-523E91813BA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040001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67C45A-4C12-0F4B-B856-F4A1A3614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2337D8A-401F-2468-D28F-80A82694F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7B7CB16-589D-EA4B-98CA-C489EDDA79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8286DB2-FE12-FFA8-D298-731C58CA01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E1FCDB20-FD21-D3DB-938E-AEBD15C9A9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A4228F0-3AAE-1699-34CB-3D029A8E1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1FDD-24C8-48C0-8FE8-A49B4E1232C9}" type="datetimeFigureOut">
              <a:rPr lang="es-ES" smtClean="0"/>
              <a:t>12/01/2026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99418B5-3038-D05E-0ACC-A854D0208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A1535AD-C660-83C3-BBCD-D981CA8AF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2AEBE-8C44-4A5E-9F2F-523E91813BA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43159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295834-F5B2-910F-CCC3-EDB9F7511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7CDAE26C-DF56-3029-D215-29048BE42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1FDD-24C8-48C0-8FE8-A49B4E1232C9}" type="datetimeFigureOut">
              <a:rPr lang="es-ES" smtClean="0"/>
              <a:t>12/01/2026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A2D5FF7-A956-C584-6AE6-52981656E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F679CA7-9AC4-F00F-434B-51373FC44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2AEBE-8C44-4A5E-9F2F-523E91813BA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679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A399C82-DA1F-A144-E56A-379D32DF6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1FDD-24C8-48C0-8FE8-A49B4E1232C9}" type="datetimeFigureOut">
              <a:rPr lang="es-ES" smtClean="0"/>
              <a:t>12/01/2026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EE52D1C-029C-122F-B91D-9BD96942C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69E0E36-D503-615F-A6BD-7251C1D59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2AEBE-8C44-4A5E-9F2F-523E91813BA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5DAA18-E500-E8DE-A58E-3F6302641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F6374CD-042B-2412-B6D1-EC30DABFA5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6E4B446-49E5-8E66-1934-18DE67B7E3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BA9CAAB-85A8-3193-5E1C-0BE96C3B26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1FDD-24C8-48C0-8FE8-A49B4E1232C9}" type="datetimeFigureOut">
              <a:rPr lang="es-ES" smtClean="0"/>
              <a:t>12/01/2026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E7BC0CB-CFA3-293D-12D0-E75B252F2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EA51E6E-56CC-1855-B764-F646480CD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2AEBE-8C44-4A5E-9F2F-523E91813BA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8126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22F438-3E8F-A4D7-D114-56D770028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5CA987-98D8-7629-4FC5-AE0DE13E84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F03B1D3-2F16-5E1A-5254-4B31E978C0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A912E98-B344-A449-83E8-1128EF2FD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1FDD-24C8-48C0-8FE8-A49B4E1232C9}" type="datetimeFigureOut">
              <a:rPr lang="es-ES" smtClean="0"/>
              <a:t>12/01/2026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2294A6C-C66C-A73C-EE99-F29CB9C3F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1906010-5E1D-9BD1-9D1F-EC2217D6F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2AEBE-8C44-4A5E-9F2F-523E91813BA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5011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C10EB3-7C87-A5F1-0640-AE06ECE88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2438EB8-E95F-389B-5F04-FAD98B7D1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07846BA-25D2-C745-DC15-FBEBC0B4B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1FDD-24C8-48C0-8FE8-A49B4E1232C9}" type="datetimeFigureOut">
              <a:rPr lang="es-ES" smtClean="0"/>
              <a:t>12/01/2026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7349AB-7160-BF2F-F539-5410DE831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FBF5043-B9E4-FD95-9BE0-5B30CAF0E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2AEBE-8C44-4A5E-9F2F-523E91813BA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93392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23B7EE6-6028-F16C-F8A2-FF54EEC82B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30E222C-3FDF-D2DB-B9CD-623B56CB4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480B924-F4F6-E4A5-ACE6-A8B0DE568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1FDD-24C8-48C0-8FE8-A49B4E1232C9}" type="datetimeFigureOut">
              <a:rPr lang="es-ES" smtClean="0"/>
              <a:t>12/01/2026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3DD97A8-6D3D-BC3D-7E57-2E07E5969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A707177-5B37-1C70-580F-E3F144C5D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72AEBE-8C44-4A5E-9F2F-523E91813BA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12251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607607B-7539-8F46-8975-E0C93DFC6C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686C835-CD4C-C30B-62DC-723355D3B6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4E22727-C1AD-938E-BA91-C44DB15881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C31FDD-24C8-48C0-8FE8-A49B4E1232C9}" type="datetimeFigureOut">
              <a:rPr lang="es-ES" smtClean="0"/>
              <a:t>12/01/2026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0869311-5D35-17AC-536A-64C0000E3B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40A3E05-0103-0EE1-661E-9AEB289454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72AEBE-8C44-4A5E-9F2F-523E91813BA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5218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89B7BFD-8F45-4093-AD9C-91B15B050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42BC7E5-76DB-4826-8C07-4A49B6353F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479558"/>
            <a:ext cx="1861854" cy="717514"/>
            <a:chOff x="0" y="1479558"/>
            <a:chExt cx="1861854" cy="717514"/>
          </a:xfrm>
          <a:solidFill>
            <a:schemeClr val="bg1"/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16C8D8F-10E9-4498-ABDB-0F923F8B68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47955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E5A83E3-8A11-4492-BB6E-F5F2240316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91929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</p:grp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98F8FF6-43B4-494A-AF8F-123A4983ED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018992" y="-34538"/>
            <a:ext cx="6655405" cy="6335470"/>
          </a:xfrm>
          <a:custGeom>
            <a:avLst/>
            <a:gdLst>
              <a:gd name="connsiteX0" fmla="*/ 1825048 w 6355652"/>
              <a:gd name="connsiteY0" fmla="*/ 0 h 6050127"/>
              <a:gd name="connsiteX1" fmla="*/ 4530604 w 6355652"/>
              <a:gd name="connsiteY1" fmla="*/ 0 h 6050127"/>
              <a:gd name="connsiteX2" fmla="*/ 4692567 w 6355652"/>
              <a:gd name="connsiteY2" fmla="*/ 78022 h 6050127"/>
              <a:gd name="connsiteX3" fmla="*/ 6355652 w 6355652"/>
              <a:gd name="connsiteY3" fmla="*/ 2872301 h 6050127"/>
              <a:gd name="connsiteX4" fmla="*/ 3177826 w 6355652"/>
              <a:gd name="connsiteY4" fmla="*/ 6050127 h 6050127"/>
              <a:gd name="connsiteX5" fmla="*/ 0 w 6355652"/>
              <a:gd name="connsiteY5" fmla="*/ 2872301 h 6050127"/>
              <a:gd name="connsiteX6" fmla="*/ 1663086 w 6355652"/>
              <a:gd name="connsiteY6" fmla="*/ 78022 h 605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55652" h="6050127">
                <a:moveTo>
                  <a:pt x="1825048" y="0"/>
                </a:moveTo>
                <a:lnTo>
                  <a:pt x="4530604" y="0"/>
                </a:lnTo>
                <a:lnTo>
                  <a:pt x="4692567" y="78022"/>
                </a:lnTo>
                <a:cubicBezTo>
                  <a:pt x="5683175" y="616152"/>
                  <a:pt x="6355652" y="1665694"/>
                  <a:pt x="6355652" y="2872301"/>
                </a:cubicBezTo>
                <a:cubicBezTo>
                  <a:pt x="6355652" y="4627366"/>
                  <a:pt x="4932891" y="6050127"/>
                  <a:pt x="3177826" y="6050127"/>
                </a:cubicBezTo>
                <a:cubicBezTo>
                  <a:pt x="1422761" y="6050127"/>
                  <a:pt x="0" y="4627366"/>
                  <a:pt x="0" y="2872301"/>
                </a:cubicBezTo>
                <a:cubicBezTo>
                  <a:pt x="0" y="1665694"/>
                  <a:pt x="672477" y="616152"/>
                  <a:pt x="1663086" y="78022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5">
            <a:extLst>
              <a:ext uri="{FF2B5EF4-FFF2-40B4-BE49-F238E27FC236}">
                <a16:creationId xmlns:a16="http://schemas.microsoft.com/office/drawing/2014/main" id="{2B06059C-C357-4011-82B9-9C01063013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5194" y="-23905"/>
            <a:ext cx="6705251" cy="6318526"/>
          </a:xfrm>
          <a:custGeom>
            <a:avLst/>
            <a:gdLst>
              <a:gd name="connsiteX0" fmla="*/ 1825048 w 6355652"/>
              <a:gd name="connsiteY0" fmla="*/ 0 h 6050127"/>
              <a:gd name="connsiteX1" fmla="*/ 4530604 w 6355652"/>
              <a:gd name="connsiteY1" fmla="*/ 0 h 6050127"/>
              <a:gd name="connsiteX2" fmla="*/ 4692567 w 6355652"/>
              <a:gd name="connsiteY2" fmla="*/ 78022 h 6050127"/>
              <a:gd name="connsiteX3" fmla="*/ 6355652 w 6355652"/>
              <a:gd name="connsiteY3" fmla="*/ 2872301 h 6050127"/>
              <a:gd name="connsiteX4" fmla="*/ 3177826 w 6355652"/>
              <a:gd name="connsiteY4" fmla="*/ 6050127 h 6050127"/>
              <a:gd name="connsiteX5" fmla="*/ 0 w 6355652"/>
              <a:gd name="connsiteY5" fmla="*/ 2872301 h 6050127"/>
              <a:gd name="connsiteX6" fmla="*/ 1663086 w 6355652"/>
              <a:gd name="connsiteY6" fmla="*/ 78022 h 605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55652" h="6050127">
                <a:moveTo>
                  <a:pt x="1825048" y="0"/>
                </a:moveTo>
                <a:lnTo>
                  <a:pt x="4530604" y="0"/>
                </a:lnTo>
                <a:lnTo>
                  <a:pt x="4692567" y="78022"/>
                </a:lnTo>
                <a:cubicBezTo>
                  <a:pt x="5683175" y="616152"/>
                  <a:pt x="6355652" y="1665694"/>
                  <a:pt x="6355652" y="2872301"/>
                </a:cubicBezTo>
                <a:cubicBezTo>
                  <a:pt x="6355652" y="4627366"/>
                  <a:pt x="4932891" y="6050127"/>
                  <a:pt x="3177826" y="6050127"/>
                </a:cubicBezTo>
                <a:cubicBezTo>
                  <a:pt x="1422761" y="6050127"/>
                  <a:pt x="0" y="4627366"/>
                  <a:pt x="0" y="2872301"/>
                </a:cubicBezTo>
                <a:cubicBezTo>
                  <a:pt x="0" y="1665694"/>
                  <a:pt x="672477" y="616152"/>
                  <a:pt x="1663086" y="78022"/>
                </a:cubicBezTo>
                <a:close/>
              </a:path>
            </a:pathLst>
          </a:cu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AFEC601-A132-47EE-B0C2-B38ACD9FCE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86886" y="-23905"/>
            <a:ext cx="6705251" cy="6215019"/>
          </a:xfrm>
          <a:custGeom>
            <a:avLst/>
            <a:gdLst>
              <a:gd name="connsiteX0" fmla="*/ 1529549 w 6355652"/>
              <a:gd name="connsiteY0" fmla="*/ 0 h 5890980"/>
              <a:gd name="connsiteX1" fmla="*/ 4826104 w 6355652"/>
              <a:gd name="connsiteY1" fmla="*/ 0 h 5890980"/>
              <a:gd name="connsiteX2" fmla="*/ 4954579 w 6355652"/>
              <a:gd name="connsiteY2" fmla="*/ 78051 h 5890980"/>
              <a:gd name="connsiteX3" fmla="*/ 6355652 w 6355652"/>
              <a:gd name="connsiteY3" fmla="*/ 2713154 h 5890980"/>
              <a:gd name="connsiteX4" fmla="*/ 3177826 w 6355652"/>
              <a:gd name="connsiteY4" fmla="*/ 5890980 h 5890980"/>
              <a:gd name="connsiteX5" fmla="*/ 0 w 6355652"/>
              <a:gd name="connsiteY5" fmla="*/ 2713154 h 5890980"/>
              <a:gd name="connsiteX6" fmla="*/ 1401073 w 6355652"/>
              <a:gd name="connsiteY6" fmla="*/ 78051 h 5890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55652" h="5890980">
                <a:moveTo>
                  <a:pt x="1529549" y="0"/>
                </a:moveTo>
                <a:lnTo>
                  <a:pt x="4826104" y="0"/>
                </a:lnTo>
                <a:lnTo>
                  <a:pt x="4954579" y="78051"/>
                </a:lnTo>
                <a:cubicBezTo>
                  <a:pt x="5799886" y="649129"/>
                  <a:pt x="6355652" y="1616239"/>
                  <a:pt x="6355652" y="2713154"/>
                </a:cubicBezTo>
                <a:cubicBezTo>
                  <a:pt x="6355652" y="4468219"/>
                  <a:pt x="4932891" y="5890980"/>
                  <a:pt x="3177826" y="5890980"/>
                </a:cubicBezTo>
                <a:cubicBezTo>
                  <a:pt x="1422761" y="5890980"/>
                  <a:pt x="0" y="4468219"/>
                  <a:pt x="0" y="2713154"/>
                </a:cubicBezTo>
                <a:cubicBezTo>
                  <a:pt x="0" y="1616239"/>
                  <a:pt x="555766" y="649129"/>
                  <a:pt x="1401073" y="78051"/>
                </a:cubicBezTo>
                <a:close/>
              </a:path>
            </a:pathLst>
          </a:cu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4855BEE-69FA-FEB2-CD6C-53034D4384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42409" y="895483"/>
            <a:ext cx="5786232" cy="3011190"/>
          </a:xfrm>
        </p:spPr>
        <p:txBody>
          <a:bodyPr>
            <a:normAutofit/>
          </a:bodyPr>
          <a:lstStyle/>
          <a:p>
            <a:r>
              <a:rPr lang="es-ES" sz="5400">
                <a:solidFill>
                  <a:schemeClr val="bg1"/>
                </a:solidFill>
              </a:rPr>
              <a:t>Target-Mediated Drug Disposition models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9ABD28C-F429-E579-F2E8-4D83214BB2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66270" y="4142096"/>
            <a:ext cx="5338511" cy="1055142"/>
          </a:xfrm>
        </p:spPr>
        <p:txBody>
          <a:bodyPr>
            <a:normAutofit/>
          </a:bodyPr>
          <a:lstStyle/>
          <a:p>
            <a:r>
              <a:rPr lang="es-ES" sz="2000">
                <a:solidFill>
                  <a:schemeClr val="bg1"/>
                </a:solidFill>
              </a:rPr>
              <a:t>Miguel Gómez García</a:t>
            </a:r>
          </a:p>
        </p:txBody>
      </p:sp>
      <p:sp>
        <p:nvSpPr>
          <p:cNvPr id="20" name="Graphic 212">
            <a:extLst>
              <a:ext uri="{FF2B5EF4-FFF2-40B4-BE49-F238E27FC236}">
                <a16:creationId xmlns:a16="http://schemas.microsoft.com/office/drawing/2014/main" id="{279CAF82-0ECF-42BE-8F37-F71941E5D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34716" y="188494"/>
            <a:ext cx="1048371" cy="1048371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2" name="Graphic 212">
            <a:extLst>
              <a:ext uri="{FF2B5EF4-FFF2-40B4-BE49-F238E27FC236}">
                <a16:creationId xmlns:a16="http://schemas.microsoft.com/office/drawing/2014/main" id="{218E095B-4870-4AD5-9C41-C16D595235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34716" y="188494"/>
            <a:ext cx="1048371" cy="1048371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grpSp>
        <p:nvGrpSpPr>
          <p:cNvPr id="24" name="Graphic 185">
            <a:extLst>
              <a:ext uri="{FF2B5EF4-FFF2-40B4-BE49-F238E27FC236}">
                <a16:creationId xmlns:a16="http://schemas.microsoft.com/office/drawing/2014/main" id="{FB9739EB-7F66-433D-841F-AB3CD1870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583101" y="3578317"/>
            <a:ext cx="1054466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104F2BBD-A005-4DCB-9566-F2351050B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B00DEC7-198B-49D1-98FD-018F3ECFC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F14DFC82-B3B3-468E-91B3-1302CFC684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3250EFE-214E-4B8E-AF96-036A514FF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AD058EBE-D4A5-4C43-B170-6A451F87A7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1" name="Oval 30">
            <a:extLst>
              <a:ext uri="{FF2B5EF4-FFF2-40B4-BE49-F238E27FC236}">
                <a16:creationId xmlns:a16="http://schemas.microsoft.com/office/drawing/2014/main" id="{033BC44A-0661-43B4-9C14-FD5963C22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4525" y="4910353"/>
            <a:ext cx="468090" cy="468090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E8CB2F0-2F5A-4EBD-B214-E0309C31F5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4525" y="4910353"/>
            <a:ext cx="468090" cy="468090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FFD3887D-244B-4EC4-9208-E304984C5D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422467" y="4200769"/>
            <a:ext cx="2769534" cy="2657232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97224C31-855E-4593-8A58-5B2B0CC4F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422467" y="4200769"/>
            <a:ext cx="2769534" cy="2657232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6162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C9A4FB-1DBE-0A3A-5C39-06ED8A200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686" y="954768"/>
            <a:ext cx="4867502" cy="1069974"/>
          </a:xfrm>
        </p:spPr>
        <p:txBody>
          <a:bodyPr anchor="ctr">
            <a:normAutofit/>
          </a:bodyPr>
          <a:lstStyle/>
          <a:p>
            <a:r>
              <a:rPr lang="es-ES" dirty="0" err="1"/>
              <a:t>Introduction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Marcador de texto 3">
                <a:extLst>
                  <a:ext uri="{FF2B5EF4-FFF2-40B4-BE49-F238E27FC236}">
                    <a16:creationId xmlns:a16="http://schemas.microsoft.com/office/drawing/2014/main" id="{11618D96-83DD-A28C-90AF-F5887DEFE91D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315686" y="2057400"/>
                <a:ext cx="4867502" cy="4669518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s-ES" dirty="0"/>
                  <a:t>P: </a:t>
                </a:r>
                <a:r>
                  <a:rPr lang="es-ES" dirty="0" err="1"/>
                  <a:t>complex</a:t>
                </a:r>
                <a:r>
                  <a:rPr lang="es-ES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s-ES" dirty="0"/>
                  <a:t>L: </a:t>
                </a:r>
                <a:r>
                  <a:rPr lang="es-ES" dirty="0" err="1"/>
                  <a:t>ligand</a:t>
                </a:r>
                <a:r>
                  <a:rPr lang="es-ES" dirty="0"/>
                  <a:t> (free </a:t>
                </a:r>
                <a:r>
                  <a:rPr lang="es-ES" dirty="0" err="1"/>
                  <a:t>drug</a:t>
                </a:r>
                <a:r>
                  <a:rPr lang="es-ES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s-ES" dirty="0"/>
                  <a:t>R: </a:t>
                </a:r>
                <a:r>
                  <a:rPr lang="es-ES" dirty="0" err="1"/>
                  <a:t>substrate</a:t>
                </a:r>
                <a:r>
                  <a:rPr lang="es-ES" dirty="0"/>
                  <a:t> (receptor)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s-ES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 →</m:t>
                      </m:r>
                      <m:r>
                        <a:rPr lang="es-E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s-ES" dirty="0"/>
              </a:p>
              <a:p>
                <a:endParaRPr lang="es-ES" dirty="0"/>
              </a:p>
              <a:p>
                <a:r>
                  <a:rPr lang="es-ES" dirty="0" err="1"/>
                  <a:t>Supposing</a:t>
                </a:r>
                <a:r>
                  <a:rPr lang="es-ES" dirty="0"/>
                  <a:t> 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&gt; &gt; &gt;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s-ES" dirty="0"/>
                  <a:t>:</a:t>
                </a:r>
              </a:p>
              <a:p>
                <a:endParaRPr lang="es-ES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es-ES" dirty="0"/>
              </a:p>
              <a:p>
                <a:r>
                  <a:rPr lang="es-ES" dirty="0" err="1"/>
                  <a:t>Otherwise</a:t>
                </a:r>
                <a:r>
                  <a:rPr lang="es-ES" dirty="0"/>
                  <a:t>, 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s-E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ES" dirty="0"/>
                  <a:t>:</a:t>
                </a:r>
              </a:p>
              <a:p>
                <a:endParaRPr lang="es-ES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ad>
                            <m:radPr>
                              <m:degHide m:val="on"/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e>
                                        <m:sub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sub>
                                      </m:sSub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e>
                                        <m:sub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b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−4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rad>
                        </m:e>
                      </m:d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4" name="Marcador de texto 3">
                <a:extLst>
                  <a:ext uri="{FF2B5EF4-FFF2-40B4-BE49-F238E27FC236}">
                    <a16:creationId xmlns:a16="http://schemas.microsoft.com/office/drawing/2014/main" id="{11618D96-83DD-A28C-90AF-F5887DEFE9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315686" y="2057400"/>
                <a:ext cx="4867502" cy="4669518"/>
              </a:xfrm>
              <a:blipFill>
                <a:blip r:embed="rId2"/>
                <a:stretch>
                  <a:fillRect l="-752" t="-91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Imagen 15">
            <a:extLst>
              <a:ext uri="{FF2B5EF4-FFF2-40B4-BE49-F238E27FC236}">
                <a16:creationId xmlns:a16="http://schemas.microsoft.com/office/drawing/2014/main" id="{7B122C8F-62FE-0D45-8698-584C7BC895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9953" y="706211"/>
            <a:ext cx="6701958" cy="5444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9406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918177-9CE1-76B1-1C8C-AD4C8C5FC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s-ES" dirty="0" err="1"/>
              <a:t>One-compartment</a:t>
            </a:r>
            <a:r>
              <a:rPr lang="es-ES" dirty="0"/>
              <a:t> </a:t>
            </a:r>
            <a:r>
              <a:rPr lang="es-ES" dirty="0" err="1"/>
              <a:t>model</a:t>
            </a:r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EE2BE88-6046-4390-E1A4-55A6F2F685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788" y="2339248"/>
            <a:ext cx="4439783" cy="126533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4ABA4211-A0A3-7BD7-3924-695FCC07E782}"/>
                  </a:ext>
                </a:extLst>
              </p:cNvPr>
              <p:cNvSpPr txBox="1"/>
              <p:nvPr/>
            </p:nvSpPr>
            <p:spPr>
              <a:xfrm>
                <a:off x="762000" y="4245429"/>
                <a:ext cx="5508434" cy="16981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E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s-E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𝑜𝑛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𝐿𝑅</m:t>
                      </m:r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𝑜𝑓𝑓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s-ES" b="0" dirty="0"/>
              </a:p>
              <a:p>
                <a:pPr/>
                <a:endParaRPr lang="es-E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E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r>
                            <a:rPr lang="es-E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s-ES" b="0" dirty="0"/>
              </a:p>
              <a:p>
                <a:pPr/>
                <a:endParaRPr lang="es-ES" dirty="0"/>
              </a:p>
            </p:txBody>
          </p:sp>
        </mc:Choice>
        <mc:Fallback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4ABA4211-A0A3-7BD7-3924-695FCC07E7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4245429"/>
                <a:ext cx="5508434" cy="16981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agen 9">
            <a:extLst>
              <a:ext uri="{FF2B5EF4-FFF2-40B4-BE49-F238E27FC236}">
                <a16:creationId xmlns:a16="http://schemas.microsoft.com/office/drawing/2014/main" id="{2BF37D56-0118-F676-95F3-E23EA17A94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0901" y="914414"/>
            <a:ext cx="6084568" cy="4833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6897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69</Words>
  <Application>Microsoft Office PowerPoint</Application>
  <PresentationFormat>Panorámica</PresentationFormat>
  <Paragraphs>19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Tema de Office</vt:lpstr>
      <vt:lpstr>Target-Mediated Drug Disposition models</vt:lpstr>
      <vt:lpstr>Introduction</vt:lpstr>
      <vt:lpstr>One-compartment model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Miguel Gómez García</dc:creator>
  <cp:lastModifiedBy>Miguel Gómez García</cp:lastModifiedBy>
  <cp:revision>1</cp:revision>
  <dcterms:created xsi:type="dcterms:W3CDTF">2026-01-12T08:49:58Z</dcterms:created>
  <dcterms:modified xsi:type="dcterms:W3CDTF">2026-01-12T09:52:21Z</dcterms:modified>
</cp:coreProperties>
</file>