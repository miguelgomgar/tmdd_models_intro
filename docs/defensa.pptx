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6180D-9BB2-4CE8-A504-EC7BD5B7DBCF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DE5E7B-59CA-4FE1-8683-B164204D06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8290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Modelos de disposición de fármacos mediada por diana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E5E7B-59CA-4FE1-8683-B164204D062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2660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F6E62-ED14-61D3-FD38-362D704EC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8C26D8-51F3-E69D-62D9-5E5647279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89A3-CBF4-4EC2-5959-37794C1E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746F80-A2A7-C091-25BE-4813D2C0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501A16-E8B4-EAD1-A0C2-E9026D3A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8591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8498E-F477-0739-46C6-B97185620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CFC0AD-7EF5-5093-B294-D08448F8A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02CD8F-776C-A9CE-3A4A-1D9233BD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5F69A1-243A-77AD-045B-6C75DDDCB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FF79D4-F7FF-4643-4231-F8D1A4C4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744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4D5E2-D9ED-7972-303B-7EF670792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B93126-E082-1E6E-FC30-FF38227B0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63406E-FA38-C6F1-2B55-A65E9C37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0408A1-A6A4-4AFF-94FE-7222F4EE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9943A-9ED8-BB20-DD8E-D26508180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987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F543C-29F3-D51D-9B1D-E44033E2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552DAB-81A0-D99A-DEF0-1A561CDDF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F70480-3DF1-1232-2A7D-19EE95E2F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63BE3B-A043-FA08-892D-01B0FE2F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1A807B-00A3-22FA-C05F-481438F6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B35EFF-BFC5-1E6D-E8F3-8C384092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00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7C45A-4C12-0F4B-B856-F4A1A361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337D8A-401F-2468-D28F-80A82694F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B7CB16-589D-EA4B-98CA-C489EDDA7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8286DB2-FE12-FFA8-D298-731C58CA0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1FCDB20-FD21-D3DB-938E-AEBD15C9A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A4228F0-3AAE-1699-34CB-3D029A8E1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9418B5-3038-D05E-0ACC-A854D0208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1535AD-C660-83C3-BBCD-D981CA8AF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315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95834-F5B2-910F-CCC3-EDB9F751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DAE26C-DF56-3029-D215-29048BE42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A2D5FF7-A956-C584-6AE6-52981656E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679CA7-9AC4-F00F-434B-51373FC4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79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A399C82-DA1F-A144-E56A-379D32DF6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EE52D1C-029C-122F-B91D-9BD96942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9E0E36-D503-615F-A6BD-7251C1D59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DAA18-E500-E8DE-A58E-3F6302641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6374CD-042B-2412-B6D1-EC30DABFA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E4B446-49E5-8E66-1934-18DE67B7E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A9CAAB-85A8-3193-5E1C-0BE96C3B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7BC0CB-CFA3-293D-12D0-E75B252F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A51E6E-56CC-1855-B764-F646480C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126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2F438-3E8F-A4D7-D114-56D770028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5CA987-98D8-7629-4FC5-AE0DE13E8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03B1D3-2F16-5E1A-5254-4B31E978C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912E98-B344-A449-83E8-1128EF2F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294A6C-C66C-A73C-EE99-F29CB9C3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906010-5E1D-9BD1-9D1F-EC2217D6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011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10EB3-7C87-A5F1-0640-AE06ECE88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438EB8-E95F-389B-5F04-FAD98B7D1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7846BA-25D2-C745-DC15-FBEBC0B4B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349AB-7160-BF2F-F539-5410DE83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BF5043-B9E4-FD95-9BE0-5B30CAF0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339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3B7EE6-6028-F16C-F8A2-FF54EEC82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0E222C-3FDF-D2DB-B9CD-623B56CB4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80B924-F4F6-E4A5-ACE6-A8B0DE56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DD97A8-6D3D-BC3D-7E57-2E07E5969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07177-5B37-1C70-580F-E3F144C5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2251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07607B-7539-8F46-8975-E0C93DFC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86C835-CD4C-C30B-62DC-723355D3B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E22727-C1AD-938E-BA91-C44DB15881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31FDD-24C8-48C0-8FE8-A49B4E1232C9}" type="datetimeFigureOut">
              <a:rPr lang="es-ES" smtClean="0"/>
              <a:t>12/01/2026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869311-5D35-17AC-536A-64C0000E3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0A3E05-0103-0EE1-661E-9AEB28945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2AEBE-8C44-4A5E-9F2F-523E91813B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5218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855BEE-69FA-FEB2-CD6C-53034D438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</a:rPr>
              <a:t>Target-Mediated Drug Disposition models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ABD28C-F429-E579-F2E8-4D83214BB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s-ES" sz="2000">
                <a:solidFill>
                  <a:schemeClr val="bg1"/>
                </a:solidFill>
              </a:rPr>
              <a:t>Miguel Gómez García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62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9A4FB-1DBE-0A3A-5C39-06ED8A200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954768"/>
            <a:ext cx="4867502" cy="1069974"/>
          </a:xfrm>
        </p:spPr>
        <p:txBody>
          <a:bodyPr anchor="ctr">
            <a:normAutofit/>
          </a:bodyPr>
          <a:lstStyle/>
          <a:p>
            <a:r>
              <a:rPr lang="es-ES" dirty="0" err="1"/>
              <a:t>Sationary</a:t>
            </a:r>
            <a:r>
              <a:rPr lang="es-ES" dirty="0"/>
              <a:t> </a:t>
            </a:r>
            <a:r>
              <a:rPr lang="es-ES" dirty="0" err="1"/>
              <a:t>state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11618D96-83DD-A28C-90AF-F5887DEFE91D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315686" y="2057400"/>
                <a:ext cx="4867502" cy="4669518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/>
                  <a:t>P: </a:t>
                </a:r>
                <a:r>
                  <a:rPr lang="es-ES" dirty="0" err="1"/>
                  <a:t>complex</a:t>
                </a:r>
                <a:endParaRPr lang="es-E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/>
                  <a:t>L: </a:t>
                </a:r>
                <a:r>
                  <a:rPr lang="es-ES" dirty="0" err="1"/>
                  <a:t>ligand</a:t>
                </a:r>
                <a:r>
                  <a:rPr lang="es-ES" dirty="0"/>
                  <a:t> (free </a:t>
                </a:r>
                <a:r>
                  <a:rPr lang="es-ES" dirty="0" err="1"/>
                  <a:t>drug</a:t>
                </a:r>
                <a:r>
                  <a:rPr lang="es-E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/>
                  <a:t>R: </a:t>
                </a:r>
                <a:r>
                  <a:rPr lang="es-ES" dirty="0" err="1"/>
                  <a:t>substrate</a:t>
                </a:r>
                <a:r>
                  <a:rPr lang="es-ES" dirty="0"/>
                  <a:t> (receptor/target)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⇄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ES" dirty="0"/>
              </a:p>
              <a:p>
                <a:pPr/>
                <a:endParaRPr lang="es-ES" dirty="0"/>
              </a:p>
              <a:p>
                <a:r>
                  <a:rPr lang="es-ES" dirty="0" err="1"/>
                  <a:t>Supposing</a:t>
                </a:r>
                <a:r>
                  <a:rPr lang="es-ES" dirty="0"/>
                  <a:t> 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&gt; &gt; &gt;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ES" dirty="0"/>
                  <a:t>:</a:t>
                </a:r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s-ES" dirty="0"/>
              </a:p>
              <a:p>
                <a:pPr/>
                <a:endParaRPr lang="es-ES" dirty="0"/>
              </a:p>
              <a:p>
                <a:r>
                  <a:rPr lang="es-ES" dirty="0" err="1"/>
                  <a:t>Otherwise</a:t>
                </a:r>
                <a:r>
                  <a:rPr lang="es-ES" dirty="0"/>
                  <a:t>, 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ES" dirty="0"/>
                  <a:t>:</a:t>
                </a:r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rad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11618D96-83DD-A28C-90AF-F5887DEFE9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315686" y="2057400"/>
                <a:ext cx="4867502" cy="4669518"/>
              </a:xfrm>
              <a:blipFill>
                <a:blip r:embed="rId2"/>
                <a:stretch>
                  <a:fillRect l="-752" t="-9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n 15">
            <a:extLst>
              <a:ext uri="{FF2B5EF4-FFF2-40B4-BE49-F238E27FC236}">
                <a16:creationId xmlns:a16="http://schemas.microsoft.com/office/drawing/2014/main" id="{7B122C8F-62FE-0D45-8698-584C7BC89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953" y="706211"/>
            <a:ext cx="6701958" cy="54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06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18177-9CE1-76B1-1C8C-AD4C8C5F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 dirty="0" err="1"/>
              <a:t>One-compartment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EE2BE88-6046-4390-E1A4-55A6F2F68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4" y="2339247"/>
            <a:ext cx="5188678" cy="14787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BA4211-A0A3-7BD7-3924-695FCC07E782}"/>
                  </a:ext>
                </a:extLst>
              </p:cNvPr>
              <p:cNvSpPr txBox="1"/>
              <p:nvPr/>
            </p:nvSpPr>
            <p:spPr>
              <a:xfrm>
                <a:off x="762000" y="4245429"/>
                <a:ext cx="5508434" cy="2224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𝐿𝑅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𝑜𝑓𝑓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ES" b="0" dirty="0"/>
              </a:p>
              <a:p>
                <a:endParaRPr lang="es-E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ES" b="0" dirty="0"/>
              </a:p>
              <a:p>
                <a:pPr/>
                <a:endParaRPr lang="es-E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𝐿𝑅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𝑜𝑓𝑓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BA4211-A0A3-7BD7-3924-695FCC07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245429"/>
                <a:ext cx="5508434" cy="22240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2BF37D56-0118-F676-95F3-E23EA17A9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900" y="914414"/>
            <a:ext cx="6300205" cy="50045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14D868B-A684-763A-D02A-4289354F439D}"/>
                  </a:ext>
                </a:extLst>
              </p:cNvPr>
              <p:cNvSpPr txBox="1"/>
              <p:nvPr/>
            </p:nvSpPr>
            <p:spPr>
              <a:xfrm>
                <a:off x="5800901" y="6027249"/>
                <a:ext cx="5629099" cy="388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r>
                  <a:rPr lang="es-ES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=0.30</m:t>
                    </m:r>
                  </m:oMath>
                </a14:m>
                <a:r>
                  <a:rPr lang="es-ES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14D868B-A684-763A-D02A-4289354F4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901" y="6027249"/>
                <a:ext cx="5629099" cy="3888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689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5A2B8-CDAB-5F8F-4CC7-5D28AB3A7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Gráfico de líneas&#10;&#10;El contenido generado por IA puede ser incorrecto.">
            <a:extLst>
              <a:ext uri="{FF2B5EF4-FFF2-40B4-BE49-F238E27FC236}">
                <a16:creationId xmlns:a16="http://schemas.microsoft.com/office/drawing/2014/main" id="{684DEB32-A42D-7576-109A-B2A3D7306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611" y="845006"/>
            <a:ext cx="6534495" cy="516798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5E92132-9F58-2ADD-CA46-2B20DC64F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 dirty="0" err="1"/>
              <a:t>One-compartment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3A6608A-BC0D-70F4-5E45-74208D4CF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4" y="2339247"/>
            <a:ext cx="5188678" cy="14787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8C8A533-A6DC-F2E0-0AFF-41C37BA57DF1}"/>
                  </a:ext>
                </a:extLst>
              </p:cNvPr>
              <p:cNvSpPr txBox="1"/>
              <p:nvPr/>
            </p:nvSpPr>
            <p:spPr>
              <a:xfrm>
                <a:off x="587566" y="4192068"/>
                <a:ext cx="4465697" cy="1496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s-ES" dirty="0"/>
                  <a:t>Rebound </a:t>
                </a:r>
                <a:r>
                  <a:rPr lang="es-ES" dirty="0" err="1"/>
                  <a:t>effect</a:t>
                </a:r>
                <a:r>
                  <a:rPr lang="es-ES" dirty="0"/>
                  <a:t>:</a:t>
                </a:r>
              </a:p>
              <a:p>
                <a:pPr/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  <a:p>
                <a:pPr/>
                <a:endParaRPr lang="es-ES" dirty="0"/>
              </a:p>
              <a:p>
                <a:pPr/>
                <a:r>
                  <a:rPr lang="es-ES" b="1" dirty="0" err="1"/>
                  <a:t>Gemtuzumab</a:t>
                </a:r>
                <a:r>
                  <a:rPr lang="es-ES" b="1" dirty="0"/>
                  <a:t> </a:t>
                </a:r>
                <a:r>
                  <a:rPr lang="es-ES" b="1" dirty="0" err="1"/>
                  <a:t>ozogamicin</a:t>
                </a:r>
                <a:r>
                  <a:rPr lang="es-ES" b="1" dirty="0"/>
                  <a:t> </a:t>
                </a:r>
                <a:r>
                  <a:rPr lang="es-ES" dirty="0"/>
                  <a:t>(LEUKEMIA)</a:t>
                </a:r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8C8A533-A6DC-F2E0-0AFF-41C37BA57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66" y="4192068"/>
                <a:ext cx="4465697" cy="1496885"/>
              </a:xfrm>
              <a:prstGeom prst="rect">
                <a:avLst/>
              </a:prstGeom>
              <a:blipFill>
                <a:blip r:embed="rId4"/>
                <a:stretch>
                  <a:fillRect l="-1091" t="-2041" b="-612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417FAC7-C947-0D72-4C74-10FA6D3CF617}"/>
                  </a:ext>
                </a:extLst>
              </p:cNvPr>
              <p:cNvSpPr txBox="1"/>
              <p:nvPr/>
            </p:nvSpPr>
            <p:spPr>
              <a:xfrm>
                <a:off x="5800901" y="6027249"/>
                <a:ext cx="5629099" cy="388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r>
                  <a:rPr lang="es-ES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s-ES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001</m:t>
                    </m:r>
                  </m:oMath>
                </a14:m>
                <a:endParaRPr lang="es-ES" b="0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417FAC7-C947-0D72-4C74-10FA6D3CF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901" y="6027249"/>
                <a:ext cx="5629099" cy="3888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áfico 8" descr="Temperatura alta con relleno sólido">
            <a:extLst>
              <a:ext uri="{FF2B5EF4-FFF2-40B4-BE49-F238E27FC236}">
                <a16:creationId xmlns:a16="http://schemas.microsoft.com/office/drawing/2014/main" id="{B0825237-0856-9393-0629-9A5CE6E246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1755" y="3298366"/>
            <a:ext cx="582371" cy="58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3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8A35D-F3B8-BDCA-1E89-E9F8EBFFC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 dirty="0" err="1"/>
              <a:t>Two-compartment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p:pic>
        <p:nvPicPr>
          <p:cNvPr id="12" name="Marcador de posición de imagen 11" descr="Gráfico&#10;&#10;El contenido generado por IA puede ser incorrecto.">
            <a:extLst>
              <a:ext uri="{FF2B5EF4-FFF2-40B4-BE49-F238E27FC236}">
                <a16:creationId xmlns:a16="http://schemas.microsoft.com/office/drawing/2014/main" id="{E7854F28-3594-60A5-530C-C9728F9C5A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59" b="-566"/>
          <a:stretch>
            <a:fillRect/>
          </a:stretch>
        </p:blipFill>
        <p:spPr>
          <a:xfrm>
            <a:off x="5080397" y="1057486"/>
            <a:ext cx="6740212" cy="5535820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81AC10-DE5C-D3FE-2A95-F3C1CCF13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44" y="1644317"/>
            <a:ext cx="4529889" cy="21295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Marcador de texto 7">
                <a:extLst>
                  <a:ext uri="{FF2B5EF4-FFF2-40B4-BE49-F238E27FC236}">
                    <a16:creationId xmlns:a16="http://schemas.microsoft.com/office/drawing/2014/main" id="{B3C8DD9A-5E57-B141-DC7A-FB3FFEE8615B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39344" y="3773906"/>
                <a:ext cx="4941053" cy="2931694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r>
                            <a:rPr lang="es-E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s-E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𝑝𝑡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s-E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𝑡𝑝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s-ES" b="0" dirty="0"/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𝑜𝑓𝑓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𝑝𝑡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  <a:p>
                <a:endParaRPr lang="es-E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𝑑𝑅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ES" dirty="0"/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𝑜𝑓𝑓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ES" dirty="0"/>
              </a:p>
              <a:p>
                <a:endParaRPr lang="es-ES" b="0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>
          <p:sp>
            <p:nvSpPr>
              <p:cNvPr id="8" name="Marcador de texto 7">
                <a:extLst>
                  <a:ext uri="{FF2B5EF4-FFF2-40B4-BE49-F238E27FC236}">
                    <a16:creationId xmlns:a16="http://schemas.microsoft.com/office/drawing/2014/main" id="{B3C8DD9A-5E57-B141-DC7A-FB3FFEE86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39344" y="3773906"/>
                <a:ext cx="4941053" cy="2931694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73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B1DA2-3926-4920-51EA-4D8D140B2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48105-2F42-E334-D6CE-9423D054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 dirty="0" err="1"/>
              <a:t>Two-compartment</a:t>
            </a:r>
            <a:r>
              <a:rPr lang="es-ES" dirty="0"/>
              <a:t> </a:t>
            </a:r>
            <a:r>
              <a:rPr lang="es-ES" dirty="0" err="1"/>
              <a:t>model</a:t>
            </a:r>
            <a:endParaRPr lang="es-ES" dirty="0"/>
          </a:p>
        </p:txBody>
      </p:sp>
      <p:pic>
        <p:nvPicPr>
          <p:cNvPr id="5" name="Marcador de posición de 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A3B400E2-3811-FBE5-EBBB-6692888BCB2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67" t="-277" r="51" b="-947"/>
          <a:stretch>
            <a:fillRect/>
          </a:stretch>
        </p:blipFill>
        <p:spPr>
          <a:xfrm>
            <a:off x="5080397" y="898358"/>
            <a:ext cx="6865362" cy="5566609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DBDE770-01A0-9830-5287-F5AB59FE4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44" y="1644317"/>
            <a:ext cx="4529889" cy="2129589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D554CFF-2E4D-AAB6-481C-BEB515C4B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344" y="3773906"/>
            <a:ext cx="4941053" cy="2931694"/>
          </a:xfrm>
        </p:spPr>
        <p:txBody>
          <a:bodyPr>
            <a:normAutofit/>
          </a:bodyPr>
          <a:lstStyle/>
          <a:p>
            <a:r>
              <a:rPr lang="es-ES" b="1" dirty="0" err="1"/>
              <a:t>Vildagliptin</a:t>
            </a:r>
            <a:r>
              <a:rPr lang="es-ES" b="1" dirty="0"/>
              <a:t> </a:t>
            </a:r>
            <a:r>
              <a:rPr lang="es-ES" dirty="0"/>
              <a:t>(DIABETES)</a:t>
            </a:r>
            <a:endParaRPr lang="es-ES" b="1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7470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6A51-2704-B48B-8BBD-293250FA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3A144-9115-16CA-3D20-C1014D8A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 dirty="0" err="1"/>
              <a:t>Quasi-Equilibrium</a:t>
            </a:r>
            <a:r>
              <a:rPr lang="es-ES" dirty="0"/>
              <a:t> </a:t>
            </a:r>
            <a:r>
              <a:rPr lang="es-ES" dirty="0" err="1"/>
              <a:t>approximation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Marcador de texto 7">
                <a:extLst>
                  <a:ext uri="{FF2B5EF4-FFF2-40B4-BE49-F238E27FC236}">
                    <a16:creationId xmlns:a16="http://schemas.microsoft.com/office/drawing/2014/main" id="{6370DD9F-E949-8BE8-EB7C-99D787AAE96D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39344" y="2185736"/>
                <a:ext cx="5571646" cy="4215063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𝑝𝑡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𝑝𝑡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s-ES" b="0" dirty="0">
                  <a:solidFill>
                    <a:schemeClr val="tx1"/>
                  </a:solidFill>
                </a:endParaRPr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d>
                            </m:sub>
                          </m:sSub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𝑝𝑡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  <a:p>
                <a:endParaRPr lang="es-E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d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𝑡𝑜𝑡</m:t>
                                          </m:r>
                                        </m:sub>
                                      </m:s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𝑡𝑜𝑡</m:t>
                                          </m:r>
                                        </m:sub>
                                      </m:s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es-ES" dirty="0"/>
              </a:p>
              <a:p>
                <a:endParaRPr lang="es-ES" b="0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>
          <p:sp>
            <p:nvSpPr>
              <p:cNvPr id="8" name="Marcador de texto 7">
                <a:extLst>
                  <a:ext uri="{FF2B5EF4-FFF2-40B4-BE49-F238E27FC236}">
                    <a16:creationId xmlns:a16="http://schemas.microsoft.com/office/drawing/2014/main" id="{6370DD9F-E949-8BE8-EB7C-99D787AAE9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39344" y="2185736"/>
                <a:ext cx="5571646" cy="42150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Marcador de posición de 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7D0D76CD-92B6-C002-DD23-7ADC3352FE4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6" t="-697" r="1" b="-1692"/>
          <a:stretch>
            <a:fillRect/>
          </a:stretch>
        </p:blipFill>
        <p:spPr>
          <a:xfrm>
            <a:off x="5830742" y="878305"/>
            <a:ext cx="6221914" cy="5101389"/>
          </a:xfrm>
        </p:spPr>
      </p:pic>
    </p:spTree>
    <p:extLst>
      <p:ext uri="{BB962C8B-B14F-4D97-AF65-F5344CB8AC3E}">
        <p14:creationId xmlns:p14="http://schemas.microsoft.com/office/powerpoint/2010/main" val="247120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12A6-914B-D745-CC03-784902E19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DD879-44E8-BA7D-22B6-8CD25623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 dirty="0" err="1"/>
              <a:t>Quasi-Equilibrium</a:t>
            </a:r>
            <a:r>
              <a:rPr lang="es-ES" dirty="0"/>
              <a:t> </a:t>
            </a:r>
            <a:r>
              <a:rPr lang="es-ES" dirty="0" err="1"/>
              <a:t>approximation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Marcador de texto 7">
                <a:extLst>
                  <a:ext uri="{FF2B5EF4-FFF2-40B4-BE49-F238E27FC236}">
                    <a16:creationId xmlns:a16="http://schemas.microsoft.com/office/drawing/2014/main" id="{BC358DB7-4E53-4E09-1181-FBE10D95AFD4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31286" y="2177716"/>
                <a:ext cx="4529889" cy="3084094"/>
              </a:xfrm>
            </p:spPr>
            <p:txBody>
              <a:bodyPr>
                <a:normAutofit lnSpcReduction="10000"/>
              </a:bodyPr>
              <a:lstStyle/>
              <a:p>
                <a:pPr/>
                <a:r>
                  <a:rPr lang="es-ES" dirty="0"/>
                  <a:t>Assumes </a:t>
                </a:r>
                <a:r>
                  <a:rPr lang="es-ES" dirty="0" err="1"/>
                  <a:t>that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binding</a:t>
                </a:r>
                <a:r>
                  <a:rPr lang="es-ES" dirty="0"/>
                  <a:t> </a:t>
                </a:r>
                <a:r>
                  <a:rPr lang="es-ES" dirty="0" err="1"/>
                  <a:t>is</a:t>
                </a:r>
                <a:r>
                  <a:rPr lang="es-ES" dirty="0"/>
                  <a:t> </a:t>
                </a:r>
                <a:r>
                  <a:rPr lang="es-ES" dirty="0" err="1"/>
                  <a:t>much</a:t>
                </a:r>
                <a:r>
                  <a:rPr lang="es-ES" dirty="0"/>
                  <a:t> </a:t>
                </a:r>
                <a:r>
                  <a:rPr lang="es-ES" dirty="0" err="1"/>
                  <a:t>faster</a:t>
                </a:r>
                <a:r>
                  <a:rPr lang="es-ES" dirty="0"/>
                  <a:t> </a:t>
                </a:r>
                <a:r>
                  <a:rPr lang="es-ES" dirty="0" err="1"/>
                  <a:t>than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elimination</a:t>
                </a:r>
                <a:r>
                  <a:rPr lang="es-ES" dirty="0"/>
                  <a:t>, </a:t>
                </a:r>
                <a:r>
                  <a:rPr lang="es-ES" dirty="0" err="1"/>
                  <a:t>therefore</a:t>
                </a:r>
                <a:r>
                  <a:rPr lang="es-ES" dirty="0"/>
                  <a:t> </a:t>
                </a:r>
                <a:r>
                  <a:rPr lang="es-ES" dirty="0" err="1"/>
                  <a:t>it</a:t>
                </a:r>
                <a:r>
                  <a:rPr lang="es-ES" dirty="0"/>
                  <a:t> </a:t>
                </a:r>
                <a:r>
                  <a:rPr lang="es-ES" dirty="0" err="1"/>
                  <a:t>is</a:t>
                </a:r>
                <a:r>
                  <a:rPr lang="es-ES" dirty="0"/>
                  <a:t> </a:t>
                </a:r>
                <a:r>
                  <a:rPr lang="es-ES" dirty="0" err="1"/>
                  <a:t>considered</a:t>
                </a:r>
                <a:r>
                  <a:rPr lang="es-ES" dirty="0"/>
                  <a:t> </a:t>
                </a:r>
                <a:r>
                  <a:rPr lang="es-ES" dirty="0" err="1"/>
                  <a:t>to</a:t>
                </a:r>
                <a:r>
                  <a:rPr lang="es-ES" dirty="0"/>
                  <a:t> be in </a:t>
                </a:r>
                <a:r>
                  <a:rPr lang="es-ES" dirty="0" err="1"/>
                  <a:t>equilibrium</a:t>
                </a:r>
                <a:r>
                  <a:rPr lang="es-ES" dirty="0"/>
                  <a:t>:</a:t>
                </a:r>
              </a:p>
              <a:p>
                <a:pPr/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𝑜𝑓𝑓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  <a:p>
                <a:endParaRPr lang="es-ES" b="0" dirty="0"/>
              </a:p>
              <a:p>
                <a:r>
                  <a:rPr lang="es-ES" dirty="0" err="1"/>
                  <a:t>Predicts</a:t>
                </a:r>
                <a:r>
                  <a:rPr lang="es-ES" dirty="0"/>
                  <a:t> </a:t>
                </a:r>
                <a:r>
                  <a:rPr lang="es-ES" dirty="0" err="1"/>
                  <a:t>accurately</a:t>
                </a:r>
                <a:r>
                  <a:rPr lang="es-ES" dirty="0"/>
                  <a:t> </a:t>
                </a:r>
                <a:r>
                  <a:rPr lang="es-ES" b="1" dirty="0"/>
                  <a:t>terminal </a:t>
                </a:r>
                <a:r>
                  <a:rPr lang="es-ES" b="1" dirty="0" err="1"/>
                  <a:t>half-life</a:t>
                </a:r>
                <a:r>
                  <a:rPr lang="es-ES" b="1" dirty="0"/>
                  <a:t> </a:t>
                </a:r>
                <a:r>
                  <a:rPr lang="es-ES" dirty="0"/>
                  <a:t>and </a:t>
                </a:r>
                <a:r>
                  <a:rPr lang="es-ES" b="1" dirty="0" err="1"/>
                  <a:t>clearance</a:t>
                </a:r>
                <a:r>
                  <a:rPr lang="es-ES" dirty="0"/>
                  <a:t> at </a:t>
                </a:r>
                <a:r>
                  <a:rPr lang="es-ES" dirty="0" err="1"/>
                  <a:t>high</a:t>
                </a:r>
                <a:r>
                  <a:rPr lang="es-ES" dirty="0"/>
                  <a:t> doses 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drug</a:t>
                </a:r>
                <a:r>
                  <a:rPr lang="es-ES" dirty="0"/>
                  <a:t>.</a:t>
                </a:r>
              </a:p>
              <a:p>
                <a:endParaRPr lang="es-ES" dirty="0"/>
              </a:p>
              <a:p>
                <a:r>
                  <a:rPr lang="es-ES" b="1" dirty="0" err="1"/>
                  <a:t>Romiplostim</a:t>
                </a:r>
                <a:r>
                  <a:rPr lang="es-ES" b="1" dirty="0"/>
                  <a:t> </a:t>
                </a:r>
                <a:r>
                  <a:rPr lang="es-ES" dirty="0"/>
                  <a:t>(COAGULANT AGENT)</a:t>
                </a:r>
                <a:endParaRPr lang="es-ES" b="1" dirty="0"/>
              </a:p>
              <a:p>
                <a:endParaRPr lang="es-ES" dirty="0"/>
              </a:p>
            </p:txBody>
          </p:sp>
        </mc:Choice>
        <mc:Fallback>
          <p:sp>
            <p:nvSpPr>
              <p:cNvPr id="8" name="Marcador de texto 7">
                <a:extLst>
                  <a:ext uri="{FF2B5EF4-FFF2-40B4-BE49-F238E27FC236}">
                    <a16:creationId xmlns:a16="http://schemas.microsoft.com/office/drawing/2014/main" id="{BC358DB7-4E53-4E09-1181-FBE10D95A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31286" y="2177716"/>
                <a:ext cx="4529889" cy="3084094"/>
              </a:xfrm>
              <a:blipFill>
                <a:blip r:embed="rId2"/>
                <a:stretch>
                  <a:fillRect l="-808" t="-197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Marcador de posición de 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D6B51B4B-1F5B-C43A-C0A0-6FF92CFE74F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71" t="-51" r="-1" b="240"/>
          <a:stretch>
            <a:fillRect/>
          </a:stretch>
        </p:blipFill>
        <p:spPr>
          <a:xfrm>
            <a:off x="4761175" y="577516"/>
            <a:ext cx="7377116" cy="5823284"/>
          </a:xfrm>
        </p:spPr>
      </p:pic>
    </p:spTree>
    <p:extLst>
      <p:ext uri="{BB962C8B-B14F-4D97-AF65-F5344CB8AC3E}">
        <p14:creationId xmlns:p14="http://schemas.microsoft.com/office/powerpoint/2010/main" val="2304022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0291F-6B40-DCEE-7EDA-4F8D6373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F6818-F060-6630-FA49-C139D867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 dirty="0" err="1"/>
              <a:t>Extensions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two-compartment</a:t>
            </a:r>
            <a:r>
              <a:rPr lang="es-ES" dirty="0"/>
              <a:t> </a:t>
            </a:r>
            <a:r>
              <a:rPr lang="es-ES" dirty="0" err="1"/>
              <a:t>models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FDF45B2C-B8BD-4992-CB39-61BF34E0B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02062" y="2314073"/>
            <a:ext cx="3932237" cy="3811588"/>
          </a:xfrm>
        </p:spPr>
        <p:txBody>
          <a:bodyPr/>
          <a:lstStyle/>
          <a:p>
            <a:r>
              <a:rPr lang="es-ES" dirty="0" err="1"/>
              <a:t>Two</a:t>
            </a:r>
            <a:r>
              <a:rPr lang="es-ES" dirty="0"/>
              <a:t> </a:t>
            </a:r>
            <a:r>
              <a:rPr lang="es-ES" dirty="0" err="1"/>
              <a:t>drugs</a:t>
            </a:r>
            <a:r>
              <a:rPr lang="es-ES" dirty="0"/>
              <a:t> </a:t>
            </a:r>
            <a:r>
              <a:rPr lang="es-ES" dirty="0" err="1"/>
              <a:t>competing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same</a:t>
            </a:r>
            <a:r>
              <a:rPr lang="es-ES" dirty="0"/>
              <a:t> receptor site.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ACD4190-9F1C-20C0-3847-0180ACD55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1973867"/>
            <a:ext cx="6415316" cy="44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81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EE332-B0E9-1AE4-EC3A-CF0E32653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7E2E2-912D-B34B-71E3-3CB29D2F4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 dirty="0" err="1"/>
              <a:t>Extensions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two-compartment</a:t>
            </a:r>
            <a:r>
              <a:rPr lang="es-ES" dirty="0"/>
              <a:t> </a:t>
            </a:r>
            <a:r>
              <a:rPr lang="es-ES" dirty="0" err="1"/>
              <a:t>models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107068A9-44B8-C4DA-1204-0DEAA4F3B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02062" y="2314073"/>
            <a:ext cx="3932237" cy="3811588"/>
          </a:xfrm>
        </p:spPr>
        <p:txBody>
          <a:bodyPr/>
          <a:lstStyle/>
          <a:p>
            <a:r>
              <a:rPr lang="es-ES" dirty="0" err="1"/>
              <a:t>Drug</a:t>
            </a:r>
            <a:r>
              <a:rPr lang="es-ES" dirty="0"/>
              <a:t>-receptor </a:t>
            </a:r>
            <a:r>
              <a:rPr lang="es-ES" dirty="0" err="1"/>
              <a:t>binding</a:t>
            </a:r>
            <a:r>
              <a:rPr lang="es-ES" dirty="0"/>
              <a:t> </a:t>
            </a:r>
            <a:r>
              <a:rPr lang="es-ES" dirty="0" err="1"/>
              <a:t>occurs</a:t>
            </a:r>
            <a:r>
              <a:rPr lang="es-ES" dirty="0"/>
              <a:t> in </a:t>
            </a:r>
            <a:r>
              <a:rPr lang="es-ES" dirty="0" err="1"/>
              <a:t>both</a:t>
            </a:r>
            <a:r>
              <a:rPr lang="es-ES" dirty="0"/>
              <a:t> </a:t>
            </a:r>
            <a:r>
              <a:rPr lang="es-ES" dirty="0" err="1"/>
              <a:t>compartments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b="1" dirty="0" err="1"/>
              <a:t>Canakinumab</a:t>
            </a:r>
            <a:r>
              <a:rPr lang="es-ES" dirty="0"/>
              <a:t> (AUTOINFLAMATORY CONDITIONS)</a:t>
            </a:r>
            <a:endParaRPr lang="es-ES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84EB8F-EB29-ADFD-5A09-41C87283A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33" y="1938389"/>
            <a:ext cx="6854444" cy="464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489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292</Words>
  <Application>Microsoft Office PowerPoint</Application>
  <PresentationFormat>Panorámica</PresentationFormat>
  <Paragraphs>66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Tema de Office</vt:lpstr>
      <vt:lpstr>Target-Mediated Drug Disposition models</vt:lpstr>
      <vt:lpstr>Sationary state</vt:lpstr>
      <vt:lpstr>One-compartment model</vt:lpstr>
      <vt:lpstr>One-compartment model</vt:lpstr>
      <vt:lpstr>Two-compartment model</vt:lpstr>
      <vt:lpstr>Two-compartment model</vt:lpstr>
      <vt:lpstr>Quasi-Equilibrium approximation</vt:lpstr>
      <vt:lpstr>Quasi-Equilibrium approximation</vt:lpstr>
      <vt:lpstr>Extensions to two-compartment models</vt:lpstr>
      <vt:lpstr>Extensions to two-compartment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Gómez García</dc:creator>
  <cp:lastModifiedBy>Miguel Gómez García</cp:lastModifiedBy>
  <cp:revision>2</cp:revision>
  <dcterms:created xsi:type="dcterms:W3CDTF">2026-01-12T08:49:58Z</dcterms:created>
  <dcterms:modified xsi:type="dcterms:W3CDTF">2026-01-12T18:34:04Z</dcterms:modified>
</cp:coreProperties>
</file>